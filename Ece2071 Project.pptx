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7"/>
  </p:notesMasterIdLst>
  <p:handoutMasterIdLst>
    <p:handoutMasterId r:id="rId18"/>
  </p:handoutMasterIdLst>
  <p:sldIdLst>
    <p:sldId id="1519" r:id="rId5"/>
    <p:sldId id="1520" r:id="rId6"/>
    <p:sldId id="1499" r:id="rId7"/>
    <p:sldId id="1515" r:id="rId8"/>
    <p:sldId id="1521" r:id="rId9"/>
    <p:sldId id="1522" r:id="rId10"/>
    <p:sldId id="1524" r:id="rId11"/>
    <p:sldId id="1523" r:id="rId12"/>
    <p:sldId id="1525" r:id="rId13"/>
    <p:sldId id="1526" r:id="rId14"/>
    <p:sldId id="1527" r:id="rId15"/>
    <p:sldId id="152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2" autoAdjust="0"/>
    <p:restoredTop sz="94618"/>
  </p:normalViewPr>
  <p:slideViewPr>
    <p:cSldViewPr snapToGrid="0">
      <p:cViewPr>
        <p:scale>
          <a:sx n="92" d="100"/>
          <a:sy n="92" d="100"/>
        </p:scale>
        <p:origin x="164" y="100"/>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5/10/2026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5/10/2026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269149004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5/10/2026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5/10/2026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5/10/2026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5/10/2026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5/10/2026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5/10/2026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5/10/2026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5/10/2026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5/10/2026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5/10/2026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5/10/2026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5/10/2026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5/10/2026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5/10/2026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5/10/2026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5/10/2026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5/10/2026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5/10/2026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5/10/2026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5/10/2026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5/10/2026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5/10/2026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5/10/2026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5/10/2026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5/10/2026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5/10/2026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5/10/2026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5/10/2026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5/10/2026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5/10/2026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5/10/2026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Ece2071 Project</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Team B14</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B9519-237E-F154-0775-DC5A3CDF75BA}"/>
              </a:ext>
            </a:extLst>
          </p:cNvPr>
          <p:cNvSpPr>
            <a:spLocks noGrp="1"/>
          </p:cNvSpPr>
          <p:nvPr>
            <p:ph type="title"/>
          </p:nvPr>
        </p:nvSpPr>
        <p:spPr>
          <a:xfrm>
            <a:off x="634029" y="1001714"/>
            <a:ext cx="10027044" cy="2613336"/>
          </a:xfrm>
        </p:spPr>
        <p:txBody>
          <a:bodyPr/>
          <a:lstStyle/>
          <a:p>
            <a:r>
              <a:rPr lang="en-US" u="none" dirty="0"/>
              <a:t>Introduction and Task review</a:t>
            </a:r>
          </a:p>
        </p:txBody>
      </p:sp>
    </p:spTree>
    <p:extLst>
      <p:ext uri="{BB962C8B-B14F-4D97-AF65-F5344CB8AC3E}">
        <p14:creationId xmlns:p14="http://schemas.microsoft.com/office/powerpoint/2010/main" val="3664579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211464" y="-177308"/>
            <a:ext cx="8780136" cy="1763653"/>
          </a:xfrm>
        </p:spPr>
        <p:txBody>
          <a:bodyPr/>
          <a:lstStyle/>
          <a:p>
            <a:r>
              <a:rPr lang="en-US" u="none" dirty="0"/>
              <a:t>What is the project</a:t>
            </a:r>
          </a:p>
        </p:txBody>
      </p:sp>
      <p:sp>
        <p:nvSpPr>
          <p:cNvPr id="3" name="TextBox 2">
            <a:extLst>
              <a:ext uri="{FF2B5EF4-FFF2-40B4-BE49-F238E27FC236}">
                <a16:creationId xmlns:a16="http://schemas.microsoft.com/office/drawing/2014/main" id="{2CE208EC-6909-E53D-06CC-25441FCE926B}"/>
              </a:ext>
            </a:extLst>
          </p:cNvPr>
          <p:cNvSpPr txBox="1"/>
          <p:nvPr/>
        </p:nvSpPr>
        <p:spPr>
          <a:xfrm>
            <a:off x="436417" y="2396836"/>
            <a:ext cx="10550237" cy="3600986"/>
          </a:xfrm>
          <a:prstGeom prst="rect">
            <a:avLst/>
          </a:prstGeom>
          <a:noFill/>
        </p:spPr>
        <p:txBody>
          <a:bodyPr wrap="square" rtlCol="0">
            <a:spAutoFit/>
          </a:bodyPr>
          <a:lstStyle/>
          <a:p>
            <a:r>
              <a:rPr lang="en-AU" sz="2000" b="1" dirty="0">
                <a:solidFill>
                  <a:schemeClr val="bg1"/>
                </a:solidFill>
              </a:rPr>
              <a:t>Creating an audio capturing system that records and outputs recorded sounds through the storage and manipulation of data in STMS </a:t>
            </a:r>
          </a:p>
          <a:p>
            <a:endParaRPr lang="en-AU" sz="1900" b="1" dirty="0">
              <a:solidFill>
                <a:schemeClr val="bg1"/>
              </a:solidFill>
            </a:endParaRPr>
          </a:p>
          <a:p>
            <a:pPr marL="285750" indent="-285750">
              <a:buFont typeface="Arial" panose="020B0604020202020204" pitchFamily="34" charset="0"/>
              <a:buChar char="•"/>
            </a:pPr>
            <a:r>
              <a:rPr lang="en-AU" sz="1900" b="1" dirty="0">
                <a:solidFill>
                  <a:schemeClr val="bg1"/>
                </a:solidFill>
              </a:rPr>
              <a:t>Task 1: Create a MVP that records in a sampling STM, sends to a processing STM, and finally to a python script as a .wav file </a:t>
            </a:r>
          </a:p>
          <a:p>
            <a:endParaRPr lang="en-AU" sz="1900" b="1" dirty="0">
              <a:solidFill>
                <a:schemeClr val="bg1"/>
              </a:solidFill>
            </a:endParaRPr>
          </a:p>
          <a:p>
            <a:pPr marL="285750" indent="-285750">
              <a:buFont typeface="Arial" panose="020B0604020202020204" pitchFamily="34" charset="0"/>
              <a:buChar char="•"/>
            </a:pPr>
            <a:r>
              <a:rPr lang="en-AU" sz="1900" b="1" dirty="0">
                <a:solidFill>
                  <a:schemeClr val="bg1"/>
                </a:solidFill>
              </a:rPr>
              <a:t>Task 2: Create an interface in python (CLI), add features based on proximity (USS), bonus features for analysis </a:t>
            </a:r>
          </a:p>
          <a:p>
            <a:endParaRPr lang="en-AU" sz="1900" b="1" dirty="0">
              <a:solidFill>
                <a:schemeClr val="bg1"/>
              </a:solidFill>
            </a:endParaRPr>
          </a:p>
          <a:p>
            <a:pPr marL="285750" indent="-285750">
              <a:buFont typeface="Arial" panose="020B0604020202020204" pitchFamily="34" charset="0"/>
              <a:buChar char="•"/>
            </a:pPr>
            <a:r>
              <a:rPr lang="en-AU" sz="1900" b="1" dirty="0">
                <a:solidFill>
                  <a:schemeClr val="bg1"/>
                </a:solidFill>
              </a:rPr>
              <a:t>Task 3: Improve quality to 10 bits and downsize </a:t>
            </a:r>
          </a:p>
          <a:p>
            <a:pPr marL="285750" indent="-285750">
              <a:buFont typeface="Arial" panose="020B0604020202020204" pitchFamily="34" charset="0"/>
              <a:buChar char="•"/>
            </a:pPr>
            <a:endParaRPr lang="en-AU" sz="1900" b="1" dirty="0">
              <a:solidFill>
                <a:schemeClr val="bg1"/>
              </a:solidFill>
            </a:endParaRPr>
          </a:p>
          <a:p>
            <a:pPr marL="285750" indent="-285750">
              <a:buFont typeface="Arial" panose="020B0604020202020204" pitchFamily="34" charset="0"/>
              <a:buChar char="•"/>
            </a:pPr>
            <a:r>
              <a:rPr lang="en-AU" sz="1900" b="1" dirty="0">
                <a:solidFill>
                  <a:schemeClr val="bg1"/>
                </a:solidFill>
              </a:rPr>
              <a:t>Task 4: Improve quality to 12 bits at a sampling of 44.1 </a:t>
            </a:r>
            <a:r>
              <a:rPr lang="en-AU" sz="1900" b="1" dirty="0" err="1">
                <a:solidFill>
                  <a:schemeClr val="bg1"/>
                </a:solidFill>
              </a:rPr>
              <a:t>ksps</a:t>
            </a:r>
            <a:endParaRPr lang="en-AU" sz="1900" b="1" dirty="0">
              <a:solidFill>
                <a:schemeClr val="bg1"/>
              </a:solidFill>
            </a:endParaRPr>
          </a:p>
        </p:txBody>
      </p:sp>
    </p:spTree>
    <p:extLst>
      <p:ext uri="{BB962C8B-B14F-4D97-AF65-F5344CB8AC3E}">
        <p14:creationId xmlns:p14="http://schemas.microsoft.com/office/powerpoint/2010/main" val="1751885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CAA463-F531-1FC1-6826-167C367BDDA1}"/>
              </a:ext>
            </a:extLst>
          </p:cNvPr>
          <p:cNvSpPr>
            <a:spLocks noGrp="1"/>
          </p:cNvSpPr>
          <p:nvPr>
            <p:ph sz="quarter" idx="13"/>
          </p:nvPr>
        </p:nvSpPr>
        <p:spPr>
          <a:xfrm>
            <a:off x="634029" y="1040964"/>
            <a:ext cx="11267026" cy="3129254"/>
          </a:xfrm>
        </p:spPr>
        <p:txBody>
          <a:bodyPr/>
          <a:lstStyle/>
          <a:p>
            <a:r>
              <a:rPr lang="en-US" sz="4000" b="1" u="none" dirty="0"/>
              <a:t>Task 1:Minimum Viable Product (MVP)</a:t>
            </a:r>
          </a:p>
        </p:txBody>
      </p:sp>
    </p:spTree>
    <p:extLst>
      <p:ext uri="{BB962C8B-B14F-4D97-AF65-F5344CB8AC3E}">
        <p14:creationId xmlns:p14="http://schemas.microsoft.com/office/powerpoint/2010/main" val="3408536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0A39145-5737-AE1C-2B00-463DDF7686C0}"/>
              </a:ext>
            </a:extLst>
          </p:cNvPr>
          <p:cNvSpPr txBox="1"/>
          <p:nvPr/>
        </p:nvSpPr>
        <p:spPr>
          <a:xfrm>
            <a:off x="498762" y="768927"/>
            <a:ext cx="10550237" cy="4893647"/>
          </a:xfrm>
          <a:prstGeom prst="rect">
            <a:avLst/>
          </a:prstGeom>
          <a:noFill/>
        </p:spPr>
        <p:txBody>
          <a:bodyPr wrap="square" rtlCol="0">
            <a:spAutoFit/>
          </a:bodyPr>
          <a:lstStyle/>
          <a:p>
            <a:r>
              <a:rPr lang="en-AU" sz="2400" b="1" dirty="0"/>
              <a:t>Sampling STM:</a:t>
            </a:r>
            <a:endParaRPr lang="en-AU" sz="2400" dirty="0"/>
          </a:p>
          <a:p>
            <a:pPr marL="342900" indent="-342900">
              <a:buFont typeface="Arial" panose="020B0604020202020204" pitchFamily="34" charset="0"/>
              <a:buChar char="•"/>
            </a:pPr>
            <a:r>
              <a:rPr lang="en-AU" sz="2400" dirty="0"/>
              <a:t>Using the ADC, music samples were recorded through a bias circuit and transmitted over USART1 using a TX-to-RX pin connection. </a:t>
            </a:r>
          </a:p>
          <a:p>
            <a:endParaRPr lang="en-AU" sz="2400" dirty="0"/>
          </a:p>
          <a:p>
            <a:r>
              <a:rPr lang="en-AU" sz="2400" b="1" dirty="0"/>
              <a:t>Processing STM:</a:t>
            </a:r>
            <a:endParaRPr lang="en-AU" sz="2400" dirty="0"/>
          </a:p>
          <a:p>
            <a:pPr marL="342900" indent="-342900">
              <a:buFont typeface="Arial" panose="020B0604020202020204" pitchFamily="34" charset="0"/>
              <a:buChar char="•"/>
            </a:pPr>
            <a:r>
              <a:rPr lang="en-AU" sz="2400" dirty="0"/>
              <a:t>The Processing STM received the samples over USART1 and applied a moving average filter by adding the current sample to the previous sample and dividing the result by 2. The filtered data was then transmitted to the Python script via USART2 (USB connection). </a:t>
            </a:r>
          </a:p>
          <a:p>
            <a:endParaRPr lang="en-AU" sz="2400" dirty="0"/>
          </a:p>
          <a:p>
            <a:r>
              <a:rPr lang="en-AU" sz="2400" b="1" dirty="0"/>
              <a:t>Python Script:</a:t>
            </a:r>
            <a:endParaRPr lang="en-AU" sz="2400" dirty="0"/>
          </a:p>
          <a:p>
            <a:pPr marL="342900" indent="-342900">
              <a:buFont typeface="Arial" panose="020B0604020202020204" pitchFamily="34" charset="0"/>
              <a:buChar char="•"/>
            </a:pPr>
            <a:r>
              <a:rPr lang="en-AU" sz="2400" dirty="0"/>
              <a:t>Python functions were used to convert the incoming byte data into WAV files, allowing the recorded audio to be played back and analysed.</a:t>
            </a:r>
          </a:p>
        </p:txBody>
      </p:sp>
    </p:spTree>
    <p:extLst>
      <p:ext uri="{BB962C8B-B14F-4D97-AF65-F5344CB8AC3E}">
        <p14:creationId xmlns:p14="http://schemas.microsoft.com/office/powerpoint/2010/main" val="848145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806F4-D1D7-69C5-366A-47D5C9C52B71}"/>
              </a:ext>
            </a:extLst>
          </p:cNvPr>
          <p:cNvSpPr>
            <a:spLocks noGrp="1"/>
          </p:cNvSpPr>
          <p:nvPr>
            <p:ph type="title"/>
          </p:nvPr>
        </p:nvSpPr>
        <p:spPr/>
        <p:txBody>
          <a:bodyPr/>
          <a:lstStyle/>
          <a:p>
            <a:endParaRPr lang="en-AU"/>
          </a:p>
        </p:txBody>
      </p:sp>
      <p:pic>
        <p:nvPicPr>
          <p:cNvPr id="5" name="Picture 4">
            <a:extLst>
              <a:ext uri="{FF2B5EF4-FFF2-40B4-BE49-F238E27FC236}">
                <a16:creationId xmlns:a16="http://schemas.microsoft.com/office/drawing/2014/main" id="{D44EE942-AB4B-5321-4C28-1622D40625F1}"/>
              </a:ext>
            </a:extLst>
          </p:cNvPr>
          <p:cNvPicPr>
            <a:picLocks noChangeAspect="1"/>
          </p:cNvPicPr>
          <p:nvPr/>
        </p:nvPicPr>
        <p:blipFill>
          <a:blip r:embed="rId2"/>
          <a:stretch>
            <a:fillRect/>
          </a:stretch>
        </p:blipFill>
        <p:spPr>
          <a:xfrm>
            <a:off x="893618" y="670046"/>
            <a:ext cx="10106891" cy="1588095"/>
          </a:xfrm>
          <a:prstGeom prst="rect">
            <a:avLst/>
          </a:prstGeom>
        </p:spPr>
      </p:pic>
      <p:sp>
        <p:nvSpPr>
          <p:cNvPr id="6" name="Google Shape;307;p18">
            <a:extLst>
              <a:ext uri="{FF2B5EF4-FFF2-40B4-BE49-F238E27FC236}">
                <a16:creationId xmlns:a16="http://schemas.microsoft.com/office/drawing/2014/main" id="{1AD106F2-3CA7-4C93-5476-053B522D7A9E}"/>
              </a:ext>
            </a:extLst>
          </p:cNvPr>
          <p:cNvSpPr txBox="1"/>
          <p:nvPr/>
        </p:nvSpPr>
        <p:spPr>
          <a:xfrm>
            <a:off x="4552295" y="2323827"/>
            <a:ext cx="3364500" cy="395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1300" b="1" i="1" dirty="0">
                <a:solidFill>
                  <a:schemeClr val="dk2"/>
                </a:solidFill>
                <a:latin typeface="Times New Roman"/>
                <a:ea typeface="Times New Roman"/>
                <a:cs typeface="Times New Roman"/>
                <a:sym typeface="Times New Roman"/>
              </a:rPr>
              <a:t>Image 1: </a:t>
            </a:r>
            <a:r>
              <a:rPr lang="en-GB" sz="1300" i="1" dirty="0">
                <a:solidFill>
                  <a:schemeClr val="dk2"/>
                </a:solidFill>
                <a:latin typeface="Times New Roman"/>
                <a:ea typeface="Times New Roman"/>
                <a:cs typeface="Times New Roman"/>
                <a:sym typeface="Times New Roman"/>
              </a:rPr>
              <a:t>Block diagram of process</a:t>
            </a:r>
            <a:endParaRPr sz="1300" i="1" dirty="0">
              <a:solidFill>
                <a:schemeClr val="dk2"/>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251345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68294-0543-06AC-7BD7-EF07EB17A3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6662A0-1BA1-8943-6AF6-345826EA3480}"/>
              </a:ext>
            </a:extLst>
          </p:cNvPr>
          <p:cNvSpPr>
            <a:spLocks noGrp="1"/>
          </p:cNvSpPr>
          <p:nvPr>
            <p:ph sz="quarter" idx="13"/>
          </p:nvPr>
        </p:nvSpPr>
        <p:spPr>
          <a:xfrm>
            <a:off x="634029" y="1040964"/>
            <a:ext cx="11267026" cy="3129254"/>
          </a:xfrm>
        </p:spPr>
        <p:txBody>
          <a:bodyPr/>
          <a:lstStyle/>
          <a:p>
            <a:r>
              <a:rPr lang="en-US" sz="4000" b="1" u="none" dirty="0"/>
              <a:t>Task 4: Self-Directed Improvement</a:t>
            </a:r>
          </a:p>
        </p:txBody>
      </p:sp>
    </p:spTree>
    <p:extLst>
      <p:ext uri="{BB962C8B-B14F-4D97-AF65-F5344CB8AC3E}">
        <p14:creationId xmlns:p14="http://schemas.microsoft.com/office/powerpoint/2010/main" val="26034231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55715-6E32-8799-FCBA-436D05808D16}"/>
              </a:ext>
            </a:extLst>
          </p:cNvPr>
          <p:cNvSpPr>
            <a:spLocks noGrp="1"/>
          </p:cNvSpPr>
          <p:nvPr>
            <p:ph type="title"/>
          </p:nvPr>
        </p:nvSpPr>
        <p:spPr/>
        <p:txBody>
          <a:bodyPr/>
          <a:lstStyle/>
          <a:p>
            <a:endParaRPr lang="en-AU"/>
          </a:p>
        </p:txBody>
      </p:sp>
      <p:sp>
        <p:nvSpPr>
          <p:cNvPr id="4" name="TextBox 3">
            <a:extLst>
              <a:ext uri="{FF2B5EF4-FFF2-40B4-BE49-F238E27FC236}">
                <a16:creationId xmlns:a16="http://schemas.microsoft.com/office/drawing/2014/main" id="{8159B47E-D93E-7D82-C75E-EA149375F808}"/>
              </a:ext>
            </a:extLst>
          </p:cNvPr>
          <p:cNvSpPr txBox="1"/>
          <p:nvPr/>
        </p:nvSpPr>
        <p:spPr>
          <a:xfrm>
            <a:off x="741217" y="720436"/>
            <a:ext cx="10550237" cy="2400657"/>
          </a:xfrm>
          <a:prstGeom prst="rect">
            <a:avLst/>
          </a:prstGeom>
          <a:noFill/>
        </p:spPr>
        <p:txBody>
          <a:bodyPr wrap="square" rtlCol="0">
            <a:spAutoFit/>
          </a:bodyPr>
          <a:lstStyle/>
          <a:p>
            <a:pPr algn="ctr"/>
            <a:r>
              <a:rPr lang="en-AU" sz="3000" b="1" dirty="0"/>
              <a:t>Objectives</a:t>
            </a:r>
          </a:p>
          <a:p>
            <a:pPr algn="ctr"/>
            <a:endParaRPr lang="en-AU" sz="3000" b="1" dirty="0"/>
          </a:p>
          <a:p>
            <a:pPr marL="457200" indent="-457200">
              <a:buFont typeface="Arial" panose="020B0604020202020204" pitchFamily="34" charset="0"/>
              <a:buChar char="•"/>
            </a:pPr>
            <a:r>
              <a:rPr lang="en-AU" sz="3000" dirty="0"/>
              <a:t>Sampling rate must be at 44.1ksps or higher</a:t>
            </a:r>
          </a:p>
          <a:p>
            <a:pPr marL="457200" indent="-457200">
              <a:buFont typeface="Arial" panose="020B0604020202020204" pitchFamily="34" charset="0"/>
              <a:buChar char="•"/>
            </a:pPr>
            <a:r>
              <a:rPr lang="en-AU" sz="3000" dirty="0"/>
              <a:t>Bit-depth rate should be 12 bit</a:t>
            </a:r>
          </a:p>
          <a:p>
            <a:pPr marL="457200" indent="-457200">
              <a:buFont typeface="Arial" panose="020B0604020202020204" pitchFamily="34" charset="0"/>
              <a:buChar char="•"/>
            </a:pPr>
            <a:r>
              <a:rPr lang="en-AU" sz="3000" dirty="0"/>
              <a:t>No longer than 921600 bits/second</a:t>
            </a:r>
          </a:p>
        </p:txBody>
      </p:sp>
    </p:spTree>
    <p:extLst>
      <p:ext uri="{BB962C8B-B14F-4D97-AF65-F5344CB8AC3E}">
        <p14:creationId xmlns:p14="http://schemas.microsoft.com/office/powerpoint/2010/main" val="1584592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49A9B-C61E-B63C-0EF2-C2E12355060C}"/>
              </a:ext>
            </a:extLst>
          </p:cNvPr>
          <p:cNvSpPr>
            <a:spLocks noGrp="1"/>
          </p:cNvSpPr>
          <p:nvPr>
            <p:ph type="title"/>
          </p:nvPr>
        </p:nvSpPr>
        <p:spPr/>
        <p:txBody>
          <a:bodyPr/>
          <a:lstStyle/>
          <a:p>
            <a:endParaRPr lang="en-AU"/>
          </a:p>
        </p:txBody>
      </p:sp>
      <p:sp>
        <p:nvSpPr>
          <p:cNvPr id="4" name="TextBox 3">
            <a:extLst>
              <a:ext uri="{FF2B5EF4-FFF2-40B4-BE49-F238E27FC236}">
                <a16:creationId xmlns:a16="http://schemas.microsoft.com/office/drawing/2014/main" id="{54C155EE-5F20-E3D4-5586-40872E4C6DF3}"/>
              </a:ext>
            </a:extLst>
          </p:cNvPr>
          <p:cNvSpPr txBox="1"/>
          <p:nvPr/>
        </p:nvSpPr>
        <p:spPr>
          <a:xfrm>
            <a:off x="741217" y="720436"/>
            <a:ext cx="10550237" cy="4278094"/>
          </a:xfrm>
          <a:prstGeom prst="rect">
            <a:avLst/>
          </a:prstGeom>
          <a:noFill/>
        </p:spPr>
        <p:txBody>
          <a:bodyPr wrap="square" rtlCol="0">
            <a:spAutoFit/>
          </a:bodyPr>
          <a:lstStyle/>
          <a:p>
            <a:pPr algn="ctr"/>
            <a:r>
              <a:rPr lang="en-AU" sz="3000" b="1" dirty="0"/>
              <a:t>How was this achieved?</a:t>
            </a:r>
          </a:p>
          <a:p>
            <a:pPr algn="ctr"/>
            <a:endParaRPr lang="en-AU" sz="3000" b="1" dirty="0"/>
          </a:p>
          <a:p>
            <a:pPr marL="457200" indent="-457200" algn="ctr">
              <a:buFont typeface="Arial" panose="020B0604020202020204" pitchFamily="34" charset="0"/>
              <a:buChar char="•"/>
            </a:pPr>
            <a:r>
              <a:rPr lang="en-AU" sz="3000" dirty="0"/>
              <a:t>Change the byte to 2 (16 bit) to allow us to send each 12 bit sample over UART at the 921600 </a:t>
            </a:r>
            <a:r>
              <a:rPr lang="en-AU" sz="3000" dirty="0" err="1"/>
              <a:t>baudrate</a:t>
            </a:r>
            <a:endParaRPr lang="en-AU" sz="3000" dirty="0"/>
          </a:p>
          <a:p>
            <a:pPr algn="ctr"/>
            <a:endParaRPr lang="en-AU" sz="3000" dirty="0"/>
          </a:p>
          <a:p>
            <a:pPr marL="457200" indent="-457200" algn="ctr">
              <a:buFont typeface="Arial" panose="020B0604020202020204" pitchFamily="34" charset="0"/>
              <a:buChar char="•"/>
            </a:pPr>
            <a:r>
              <a:rPr lang="en-AU" sz="3000" dirty="0"/>
              <a:t>44100 x 12 bits = 529200 bits/sec</a:t>
            </a:r>
          </a:p>
          <a:p>
            <a:pPr algn="ctr"/>
            <a:r>
              <a:rPr lang="en-AU" sz="3000" dirty="0"/>
              <a:t>44100 x 2 byte = 88200 bytes/sec</a:t>
            </a:r>
          </a:p>
          <a:p>
            <a:pPr algn="ctr"/>
            <a:r>
              <a:rPr lang="en-AU" sz="3000" dirty="0"/>
              <a:t>88200 x 10 </a:t>
            </a:r>
            <a:r>
              <a:rPr lang="en-AU" sz="3000" dirty="0" err="1"/>
              <a:t>uart</a:t>
            </a:r>
            <a:r>
              <a:rPr lang="en-AU" sz="3000" dirty="0"/>
              <a:t> bits = 882000 </a:t>
            </a:r>
            <a:r>
              <a:rPr lang="en-AU" sz="3000" dirty="0" err="1"/>
              <a:t>baudrate</a:t>
            </a:r>
            <a:r>
              <a:rPr lang="en-AU" sz="3000" dirty="0"/>
              <a:t> </a:t>
            </a:r>
          </a:p>
          <a:p>
            <a:pPr algn="ctr"/>
            <a:r>
              <a:rPr lang="en-AU" sz="3000" dirty="0"/>
              <a:t>882000 </a:t>
            </a:r>
            <a:r>
              <a:rPr lang="en-AU" sz="3000" dirty="0" err="1"/>
              <a:t>baudrate</a:t>
            </a:r>
            <a:r>
              <a:rPr lang="en-AU" sz="3000" dirty="0"/>
              <a:t>&lt; 921600 </a:t>
            </a:r>
            <a:r>
              <a:rPr lang="en-AU" sz="3000" dirty="0" err="1"/>
              <a:t>baudrate</a:t>
            </a:r>
            <a:r>
              <a:rPr lang="en-AU" sz="3200" dirty="0"/>
              <a:t>✅</a:t>
            </a:r>
            <a:endParaRPr lang="en-AU" sz="3000" dirty="0"/>
          </a:p>
        </p:txBody>
      </p:sp>
    </p:spTree>
    <p:extLst>
      <p:ext uri="{BB962C8B-B14F-4D97-AF65-F5344CB8AC3E}">
        <p14:creationId xmlns:p14="http://schemas.microsoft.com/office/powerpoint/2010/main" val="690057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3F917-22E7-C381-0AA7-982AC7446D31}"/>
              </a:ext>
            </a:extLst>
          </p:cNvPr>
          <p:cNvSpPr>
            <a:spLocks noGrp="1"/>
          </p:cNvSpPr>
          <p:nvPr>
            <p:ph type="title"/>
          </p:nvPr>
        </p:nvSpPr>
        <p:spPr/>
        <p:txBody>
          <a:bodyPr/>
          <a:lstStyle/>
          <a:p>
            <a:endParaRPr lang="en-AU"/>
          </a:p>
        </p:txBody>
      </p:sp>
      <p:sp>
        <p:nvSpPr>
          <p:cNvPr id="4" name="TextBox 3">
            <a:extLst>
              <a:ext uri="{FF2B5EF4-FFF2-40B4-BE49-F238E27FC236}">
                <a16:creationId xmlns:a16="http://schemas.microsoft.com/office/drawing/2014/main" id="{97A44CF1-D1D2-3012-231B-B1A3BBAB00C6}"/>
              </a:ext>
            </a:extLst>
          </p:cNvPr>
          <p:cNvSpPr txBox="1"/>
          <p:nvPr/>
        </p:nvSpPr>
        <p:spPr>
          <a:xfrm>
            <a:off x="200889" y="768927"/>
            <a:ext cx="10550237" cy="4247317"/>
          </a:xfrm>
          <a:prstGeom prst="rect">
            <a:avLst/>
          </a:prstGeom>
          <a:noFill/>
        </p:spPr>
        <p:txBody>
          <a:bodyPr wrap="square" rtlCol="0">
            <a:spAutoFit/>
          </a:bodyPr>
          <a:lstStyle/>
          <a:p>
            <a:pPr algn="ctr"/>
            <a:r>
              <a:rPr lang="en-AU" sz="3000" b="1" dirty="0"/>
              <a:t>Other Approaches</a:t>
            </a:r>
          </a:p>
          <a:p>
            <a:pPr algn="ctr"/>
            <a:endParaRPr lang="en-AU" sz="3000" b="1" dirty="0"/>
          </a:p>
          <a:p>
            <a:pPr marL="457200" indent="-457200" algn="ctr">
              <a:buFont typeface="Arial" panose="020B0604020202020204" pitchFamily="34" charset="0"/>
              <a:buChar char="•"/>
            </a:pPr>
            <a:r>
              <a:rPr lang="en-AU" sz="3000" dirty="0"/>
              <a:t>Changing SPI Transmit to new values</a:t>
            </a:r>
          </a:p>
          <a:p>
            <a:pPr marL="457200" indent="-457200" algn="ctr">
              <a:buFont typeface="Arial" panose="020B0604020202020204" pitchFamily="34" charset="0"/>
              <a:buChar char="•"/>
            </a:pPr>
            <a:r>
              <a:rPr lang="en-AU" sz="3000" dirty="0"/>
              <a:t>Sampling Set as “Master”</a:t>
            </a:r>
          </a:p>
          <a:p>
            <a:pPr marL="457200" indent="-457200" algn="ctr">
              <a:buFont typeface="Arial" panose="020B0604020202020204" pitchFamily="34" charset="0"/>
              <a:buChar char="•"/>
            </a:pPr>
            <a:r>
              <a:rPr lang="en-AU" sz="3000" dirty="0"/>
              <a:t>Integrate Interrupts to receive SPI data and average moving filters</a:t>
            </a:r>
          </a:p>
          <a:p>
            <a:pPr marL="457200" indent="-457200" algn="ctr">
              <a:buFont typeface="Arial" panose="020B0604020202020204" pitchFamily="34" charset="0"/>
              <a:buChar char="•"/>
            </a:pPr>
            <a:r>
              <a:rPr lang="en-AU" sz="3000" dirty="0"/>
              <a:t>Processing STM in slave mode so that TIM on sampling can sync with processing STM receival of data</a:t>
            </a:r>
          </a:p>
          <a:p>
            <a:pPr marL="457200" indent="-457200" algn="ctr">
              <a:buFont typeface="Arial" panose="020B0604020202020204" pitchFamily="34" charset="0"/>
              <a:buChar char="•"/>
            </a:pPr>
            <a:r>
              <a:rPr lang="en-AU" sz="3000" dirty="0"/>
              <a:t>Integrate DMA if SPI is not efficient enough</a:t>
            </a:r>
          </a:p>
        </p:txBody>
      </p:sp>
    </p:spTree>
    <p:extLst>
      <p:ext uri="{BB962C8B-B14F-4D97-AF65-F5344CB8AC3E}">
        <p14:creationId xmlns:p14="http://schemas.microsoft.com/office/powerpoint/2010/main" val="30330535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C6872-15CA-45E9-DC47-CEF8C5A4E832}"/>
              </a:ext>
            </a:extLst>
          </p:cNvPr>
          <p:cNvSpPr>
            <a:spLocks noGrp="1"/>
          </p:cNvSpPr>
          <p:nvPr>
            <p:ph type="title"/>
          </p:nvPr>
        </p:nvSpPr>
        <p:spPr/>
        <p:txBody>
          <a:bodyPr/>
          <a:lstStyle/>
          <a:p>
            <a:endParaRPr lang="en-AU"/>
          </a:p>
        </p:txBody>
      </p:sp>
      <p:sp>
        <p:nvSpPr>
          <p:cNvPr id="4" name="TextBox 3">
            <a:extLst>
              <a:ext uri="{FF2B5EF4-FFF2-40B4-BE49-F238E27FC236}">
                <a16:creationId xmlns:a16="http://schemas.microsoft.com/office/drawing/2014/main" id="{5DCA9298-1C63-27AA-696A-CE74329CA5EE}"/>
              </a:ext>
            </a:extLst>
          </p:cNvPr>
          <p:cNvSpPr txBox="1"/>
          <p:nvPr/>
        </p:nvSpPr>
        <p:spPr>
          <a:xfrm>
            <a:off x="200889" y="768927"/>
            <a:ext cx="10550237" cy="2400657"/>
          </a:xfrm>
          <a:prstGeom prst="rect">
            <a:avLst/>
          </a:prstGeom>
          <a:noFill/>
        </p:spPr>
        <p:txBody>
          <a:bodyPr wrap="square" rtlCol="0">
            <a:spAutoFit/>
          </a:bodyPr>
          <a:lstStyle/>
          <a:p>
            <a:pPr algn="ctr"/>
            <a:r>
              <a:rPr lang="en-AU" sz="3000" b="1" dirty="0"/>
              <a:t>GitHub Usage</a:t>
            </a:r>
          </a:p>
          <a:p>
            <a:r>
              <a:rPr lang="en-AU" sz="3000" b="1" dirty="0"/>
              <a:t>Hannah-</a:t>
            </a:r>
          </a:p>
          <a:p>
            <a:r>
              <a:rPr lang="en-AU" sz="3000" b="1" dirty="0"/>
              <a:t>Harrison- </a:t>
            </a:r>
          </a:p>
          <a:p>
            <a:r>
              <a:rPr lang="en-AU" sz="3000" b="1" dirty="0"/>
              <a:t>Sandy-</a:t>
            </a:r>
          </a:p>
          <a:p>
            <a:r>
              <a:rPr lang="en-AU" sz="3000" b="1" dirty="0"/>
              <a:t>Galvin-</a:t>
            </a:r>
          </a:p>
        </p:txBody>
      </p:sp>
    </p:spTree>
    <p:extLst>
      <p:ext uri="{BB962C8B-B14F-4D97-AF65-F5344CB8AC3E}">
        <p14:creationId xmlns:p14="http://schemas.microsoft.com/office/powerpoint/2010/main" val="335269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C783A-6E5F-9955-79EB-3CE88B038C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CB013-65A9-3DE3-8B69-455708AAA3B5}"/>
              </a:ext>
            </a:extLst>
          </p:cNvPr>
          <p:cNvSpPr>
            <a:spLocks noGrp="1"/>
          </p:cNvSpPr>
          <p:nvPr>
            <p:ph type="title"/>
          </p:nvPr>
        </p:nvSpPr>
        <p:spPr/>
        <p:txBody>
          <a:bodyPr/>
          <a:lstStyle/>
          <a:p>
            <a:endParaRPr lang="en-AU"/>
          </a:p>
        </p:txBody>
      </p:sp>
      <p:sp>
        <p:nvSpPr>
          <p:cNvPr id="4" name="TextBox 3">
            <a:extLst>
              <a:ext uri="{FF2B5EF4-FFF2-40B4-BE49-F238E27FC236}">
                <a16:creationId xmlns:a16="http://schemas.microsoft.com/office/drawing/2014/main" id="{7AF9ECA1-E0E2-3E1F-14D6-406D6A61DFC3}"/>
              </a:ext>
            </a:extLst>
          </p:cNvPr>
          <p:cNvSpPr txBox="1"/>
          <p:nvPr/>
        </p:nvSpPr>
        <p:spPr>
          <a:xfrm>
            <a:off x="200889" y="768927"/>
            <a:ext cx="10550237" cy="2400657"/>
          </a:xfrm>
          <a:prstGeom prst="rect">
            <a:avLst/>
          </a:prstGeom>
          <a:noFill/>
        </p:spPr>
        <p:txBody>
          <a:bodyPr wrap="square" rtlCol="0">
            <a:spAutoFit/>
          </a:bodyPr>
          <a:lstStyle/>
          <a:p>
            <a:pPr algn="ctr"/>
            <a:r>
              <a:rPr lang="en-AU" sz="3000" b="1" dirty="0"/>
              <a:t>Division of Labour Summary</a:t>
            </a:r>
          </a:p>
          <a:p>
            <a:r>
              <a:rPr lang="en-AU" sz="3000" b="1" dirty="0"/>
              <a:t>Hannah-</a:t>
            </a:r>
          </a:p>
          <a:p>
            <a:r>
              <a:rPr lang="en-AU" sz="3000" b="1" dirty="0"/>
              <a:t>Harrison- </a:t>
            </a:r>
          </a:p>
          <a:p>
            <a:r>
              <a:rPr lang="en-AU" sz="3000" b="1" dirty="0"/>
              <a:t>Sandy-</a:t>
            </a:r>
          </a:p>
          <a:p>
            <a:r>
              <a:rPr lang="en-AU" sz="3000" b="1" dirty="0"/>
              <a:t>Galvin-</a:t>
            </a:r>
          </a:p>
        </p:txBody>
      </p:sp>
    </p:spTree>
    <p:extLst>
      <p:ext uri="{BB962C8B-B14F-4D97-AF65-F5344CB8AC3E}">
        <p14:creationId xmlns:p14="http://schemas.microsoft.com/office/powerpoint/2010/main" val="3552047362"/>
      </p:ext>
    </p:extLst>
  </p:cSld>
  <p:clrMapOvr>
    <a:masterClrMapping/>
  </p:clrMapOvr>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customXml/itemProps3.xml><?xml version="1.0" encoding="utf-8"?>
<ds:datastoreItem xmlns:ds="http://schemas.openxmlformats.org/officeDocument/2006/customXml" ds:itemID="{076F8FCD-0A1F-4F6A-8F55-15E9E87E2E4C}">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{EA8EB859-3DB2-44DD-8538-004601707A5F}e68b7f07-47f1-4c94-a1ca-e7d736a42cf8-TF86f18fb6-1448-4a46-9973-da86b5b4a1df94418399_win32</Template>
  <TotalTime>345</TotalTime>
  <Words>382</Words>
  <Application>Microsoft Office PowerPoint</Application>
  <PresentationFormat>Widescreen</PresentationFormat>
  <Paragraphs>55</Paragraphs>
  <Slides>12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Light</vt:lpstr>
      <vt:lpstr>Arial</vt:lpstr>
      <vt:lpstr>Times New Roman</vt:lpstr>
      <vt:lpstr>BoldUnderlinesKeynote</vt:lpstr>
      <vt:lpstr>Ece2071 Project</vt:lpstr>
      <vt:lpstr>Introduction and Task review</vt:lpstr>
      <vt:lpstr>What is the project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Galvin Tan</dc:creator>
  <cp:lastModifiedBy>Galvin Tan</cp:lastModifiedBy>
  <cp:revision>2</cp:revision>
  <dcterms:created xsi:type="dcterms:W3CDTF">2026-05-10T01:01:18Z</dcterms:created>
  <dcterms:modified xsi:type="dcterms:W3CDTF">2026-05-10T06:46:57Z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